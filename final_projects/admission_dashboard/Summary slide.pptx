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0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98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829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9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605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604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896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647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697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781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851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72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8D79F-11CE-451D-A973-C22256B2CA8B}" type="datetimeFigureOut">
              <a:rPr lang="en-GB" smtClean="0"/>
              <a:t>03/04/2026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6A0A3-D38F-4346-83A4-639EFB317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96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Admissions Dashboard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3501008"/>
            <a:ext cx="6400800" cy="622920"/>
          </a:xfrm>
        </p:spPr>
        <p:txBody>
          <a:bodyPr/>
          <a:lstStyle/>
          <a:p>
            <a:r>
              <a:rPr lang="en-US" dirty="0" smtClean="0"/>
              <a:t>FIP GAIDS Final Project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169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Problem Statement</a:t>
            </a:r>
            <a:endParaRPr lang="en-GB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 smtClean="0"/>
              <a:t>The </a:t>
            </a:r>
            <a:r>
              <a:rPr lang="en-US" sz="1800" dirty="0"/>
              <a:t>Nigerian education system faces challenges in efficiently managing school admissions and resource allocation due to uneven demand distribution across schools and regions. </a:t>
            </a:r>
            <a:endParaRPr lang="en-US" sz="1800" dirty="0" smtClean="0"/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r>
              <a:rPr lang="en-US" sz="1800" dirty="0" smtClean="0"/>
              <a:t>Without </a:t>
            </a:r>
            <a:r>
              <a:rPr lang="en-US" sz="1800" dirty="0"/>
              <a:t>comprehensive data analysis, educational planners struggle to</a:t>
            </a:r>
            <a:r>
              <a:rPr lang="en-US" sz="1800" dirty="0" smtClean="0"/>
              <a:t>:</a:t>
            </a:r>
          </a:p>
          <a:p>
            <a:pPr algn="just"/>
            <a:r>
              <a:rPr lang="en-US" sz="1800" dirty="0" smtClean="0"/>
              <a:t>Identify </a:t>
            </a:r>
            <a:r>
              <a:rPr lang="en-US" sz="1800" dirty="0"/>
              <a:t>schools experiencing admission pressure vs. those with excess capacity</a:t>
            </a:r>
          </a:p>
          <a:p>
            <a:pPr algn="just"/>
            <a:r>
              <a:rPr lang="en-US" sz="1800" dirty="0" smtClean="0"/>
              <a:t>Allocate </a:t>
            </a:r>
            <a:r>
              <a:rPr lang="en-US" sz="1800" dirty="0"/>
              <a:t>resources (teachers, funding, infrastructure) equitably based on actual </a:t>
            </a:r>
            <a:r>
              <a:rPr lang="en-US" sz="1800" dirty="0" smtClean="0"/>
              <a:t>demand</a:t>
            </a:r>
          </a:p>
          <a:p>
            <a:pPr algn="just"/>
            <a:r>
              <a:rPr lang="en-US" sz="1800" dirty="0" smtClean="0"/>
              <a:t>Predict </a:t>
            </a:r>
            <a:r>
              <a:rPr lang="en-US" sz="1800" dirty="0"/>
              <a:t>future enrollment trends for capacity planning</a:t>
            </a:r>
          </a:p>
          <a:p>
            <a:pPr algn="just"/>
            <a:r>
              <a:rPr lang="en-US" sz="1800" dirty="0" smtClean="0"/>
              <a:t>Evaluate </a:t>
            </a:r>
            <a:r>
              <a:rPr lang="en-US" sz="1800" dirty="0"/>
              <a:t>the effectiveness of education policies on admission patterns</a:t>
            </a:r>
          </a:p>
          <a:p>
            <a:pPr algn="just"/>
            <a:r>
              <a:rPr lang="en-US" sz="1800" dirty="0" smtClean="0"/>
              <a:t>This </a:t>
            </a:r>
            <a:r>
              <a:rPr lang="en-US" sz="1800" dirty="0"/>
              <a:t>project addresses these challenges by analyzing historical admission data to develop actionable metrics and insights that inform strategic educational planning and resource optimization</a:t>
            </a:r>
            <a:r>
              <a:rPr lang="en-US" sz="1800" dirty="0" smtClean="0"/>
              <a:t>.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577782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Use Cases for This Project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605" y="980728"/>
            <a:ext cx="8229600" cy="7486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 smtClean="0"/>
              <a:t>The </a:t>
            </a:r>
            <a:r>
              <a:rPr lang="en-US" sz="1600" dirty="0"/>
              <a:t>Admission Data Explorer project provides valuable insights into school admission trends in Nigeria, enabling data-driven decision-making for educational stakeholders. The key metric developed, the "applications-to-schools ratio," serves multiple critical use cases</a:t>
            </a:r>
            <a:r>
              <a:rPr lang="en-US" sz="1600" dirty="0" smtClean="0"/>
              <a:t>:</a:t>
            </a:r>
            <a:r>
              <a:rPr lang="en-US" sz="1600" dirty="0"/>
              <a:t/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539552" y="1916832"/>
            <a:ext cx="806489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1. </a:t>
            </a:r>
            <a:r>
              <a:rPr lang="en-US" sz="1600" b="1" dirty="0" smtClean="0"/>
              <a:t>Capacity Planning &amp; Infrastructure Decisions</a:t>
            </a:r>
            <a:endParaRPr lang="en-US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Identifies overcrowded schools needing expansion or new facilities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Highlights underutilized schools for potential consolidation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Guides capital investment decisions for building vs. optimizing existing infrastructure.</a:t>
            </a:r>
          </a:p>
          <a:p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2. </a:t>
            </a:r>
            <a:r>
              <a:rPr lang="en-US" sz="1600" b="1" dirty="0" smtClean="0"/>
              <a:t>Admission Pressure &amp; Competitiveness Analysis</a:t>
            </a:r>
            <a:endParaRPr lang="en-US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Measures competition intensity per school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Compares access equity across regions (urban vs. rural) and school types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Monitors educational access inequality for policy interventions</a:t>
            </a:r>
          </a:p>
          <a:p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3. </a:t>
            </a:r>
            <a:r>
              <a:rPr lang="en-US" sz="1600" b="1" dirty="0" smtClean="0"/>
              <a:t>Resource Allocation (Teachers, Funding, Materials)</a:t>
            </a:r>
            <a:endParaRPr lang="en-US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Prioritizes staffing and funding based on demand pressure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Guides distribution of learning materials and resources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Supports equitable resource distribution across regions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93145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Use Cases for This Project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9552" y="1268760"/>
            <a:ext cx="80648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4. </a:t>
            </a:r>
            <a:r>
              <a:rPr lang="en-US" sz="1600" b="1" dirty="0" smtClean="0"/>
              <a:t>Demand Trend Analysis (Time Series Insight)</a:t>
            </a:r>
            <a:endParaRPr lang="en-US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Tracks rising or declining demand over years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Provides early warning signals for demographic shifts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Supports forecasting future education demand</a:t>
            </a:r>
          </a:p>
          <a:p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5. </a:t>
            </a:r>
            <a:r>
              <a:rPr lang="en-US" sz="1600" b="1" dirty="0" smtClean="0"/>
              <a:t>Policy Evaluation &amp; Intervention Impact</a:t>
            </a:r>
            <a:endParaRPr lang="en-US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 Measures effectiveness of education policies (free education programs, admission quotas)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 Evaluates impact of new school openings on demand distribution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 Quantifies policy outcomes on admission pressure</a:t>
            </a:r>
          </a:p>
          <a:p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6. </a:t>
            </a:r>
            <a:r>
              <a:rPr lang="en-US" sz="1600" b="1" dirty="0" smtClean="0"/>
              <a:t>School Network Optimization</a:t>
            </a:r>
            <a:endParaRPr lang="en-US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Guides school mergers, new branches, and catchment area redesign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Optimizes overall school distribution network efficiency</a:t>
            </a:r>
          </a:p>
          <a:p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7. </a:t>
            </a:r>
            <a:r>
              <a:rPr lang="en-US" sz="1600" b="1" dirty="0" smtClean="0"/>
              <a:t>Input into Predictive Models (Advanced Use)</a:t>
            </a:r>
            <a:endParaRPr lang="en-US" sz="16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Serves as leading indicator for system stress in admission forecasting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Supports dropout risk prediction and enrollment optimization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3288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Dataset Overview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9552" y="1268760"/>
            <a:ext cx="806489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1600" b="1" dirty="0" smtClean="0"/>
              <a:t>Total Records</a:t>
            </a:r>
            <a:r>
              <a:rPr lang="en-US" sz="1600" dirty="0" smtClean="0"/>
              <a:t>: </a:t>
            </a:r>
            <a:r>
              <a:rPr lang="en-US" sz="1600" dirty="0"/>
              <a:t>10,000 admission entries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 smtClean="0"/>
              <a:t>Time Period</a:t>
            </a:r>
            <a:r>
              <a:rPr lang="en-US" sz="1600" dirty="0" smtClean="0"/>
              <a:t>: </a:t>
            </a:r>
            <a:r>
              <a:rPr lang="en-US" sz="1600" dirty="0"/>
              <a:t>Multiple academic years (extracted calendar years)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 smtClean="0"/>
              <a:t>Schools Covered</a:t>
            </a:r>
            <a:r>
              <a:rPr lang="en-US" sz="1600" dirty="0" smtClean="0"/>
              <a:t>: </a:t>
            </a:r>
            <a:r>
              <a:rPr lang="en-US" sz="1600" dirty="0"/>
              <a:t>Analysis of unique school identifiers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b="1" dirty="0" smtClean="0"/>
              <a:t>Key Metrics</a:t>
            </a:r>
            <a:r>
              <a:rPr lang="en-US" sz="1600" dirty="0" smtClean="0"/>
              <a:t>: </a:t>
            </a:r>
            <a:r>
              <a:rPr lang="en-US" sz="1600" dirty="0"/>
              <a:t>Applications, acceptances, enrollments, and derived rates</a:t>
            </a:r>
          </a:p>
        </p:txBody>
      </p:sp>
    </p:spTree>
    <p:extLst>
      <p:ext uri="{BB962C8B-B14F-4D97-AF65-F5344CB8AC3E}">
        <p14:creationId xmlns:p14="http://schemas.microsoft.com/office/powerpoint/2010/main" val="101892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Data Cleaning Methods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9552" y="1268760"/>
            <a:ext cx="806489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1</a:t>
            </a:r>
            <a:r>
              <a:rPr lang="en-US" sz="1600" dirty="0"/>
              <a:t>. </a:t>
            </a:r>
            <a:r>
              <a:rPr lang="en-US" sz="1600" b="1" dirty="0" smtClean="0"/>
              <a:t>Initial </a:t>
            </a:r>
            <a:r>
              <a:rPr lang="en-US" sz="1600" b="1" dirty="0"/>
              <a:t>Data </a:t>
            </a:r>
            <a:r>
              <a:rPr lang="en-US" sz="1600" b="1" dirty="0" smtClean="0"/>
              <a:t>Assessment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Loaded </a:t>
            </a:r>
            <a:r>
              <a:rPr lang="en-US" sz="1600" dirty="0"/>
              <a:t>dataset and examined structure using `info()`, `describe()`, and `shape()`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Identified </a:t>
            </a:r>
            <a:r>
              <a:rPr lang="en-US" sz="1600" dirty="0"/>
              <a:t>data types and basic statistics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2. </a:t>
            </a:r>
            <a:r>
              <a:rPr lang="en-US" sz="1600" b="1" dirty="0" smtClean="0"/>
              <a:t>Missing </a:t>
            </a:r>
            <a:r>
              <a:rPr lang="en-US" sz="1600" b="1" dirty="0"/>
              <a:t>Value </a:t>
            </a:r>
            <a:r>
              <a:rPr lang="en-US" sz="1600" b="1" dirty="0" smtClean="0"/>
              <a:t>Handling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Calculated </a:t>
            </a:r>
            <a:r>
              <a:rPr lang="en-US" sz="1600" dirty="0"/>
              <a:t>missing value percentages (found &lt;5% in each column)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Filled </a:t>
            </a:r>
            <a:r>
              <a:rPr lang="en-US" sz="1600" dirty="0"/>
              <a:t>missing numerical values (`</a:t>
            </a:r>
            <a:r>
              <a:rPr lang="en-US" sz="1600" dirty="0" err="1"/>
              <a:t>num_applications</a:t>
            </a:r>
            <a:r>
              <a:rPr lang="en-US" sz="1600" dirty="0"/>
              <a:t>`, `</a:t>
            </a:r>
            <a:r>
              <a:rPr lang="en-US" sz="1600" dirty="0" err="1"/>
              <a:t>num_accepted</a:t>
            </a:r>
            <a:r>
              <a:rPr lang="en-US" sz="1600" dirty="0"/>
              <a:t>`, `</a:t>
            </a:r>
            <a:r>
              <a:rPr lang="en-US" sz="1600" dirty="0" err="1"/>
              <a:t>num_enrolled</a:t>
            </a:r>
            <a:r>
              <a:rPr lang="en-US" sz="1600" dirty="0"/>
              <a:t>`) with column means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Recalculated </a:t>
            </a:r>
            <a:r>
              <a:rPr lang="en-US" sz="1600" dirty="0"/>
              <a:t>derived metrics (`</a:t>
            </a:r>
            <a:r>
              <a:rPr lang="en-US" sz="1600" dirty="0" err="1"/>
              <a:t>acceptance_rate</a:t>
            </a:r>
            <a:r>
              <a:rPr lang="en-US" sz="1600" dirty="0"/>
              <a:t>`, `</a:t>
            </a:r>
            <a:r>
              <a:rPr lang="en-US" sz="1600" dirty="0" err="1"/>
              <a:t>enrollment_rate</a:t>
            </a:r>
            <a:r>
              <a:rPr lang="en-US" sz="1600" dirty="0"/>
              <a:t>`) after imputation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3. </a:t>
            </a:r>
            <a:r>
              <a:rPr lang="en-US" sz="1600" b="1" dirty="0" smtClean="0"/>
              <a:t>Feature </a:t>
            </a:r>
            <a:r>
              <a:rPr lang="en-US" sz="1600" b="1" dirty="0"/>
              <a:t>Engineering and Column </a:t>
            </a:r>
            <a:r>
              <a:rPr lang="en-US" sz="1600" b="1" dirty="0" smtClean="0"/>
              <a:t>Management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Extracted </a:t>
            </a:r>
            <a:r>
              <a:rPr lang="en-US" sz="1600" dirty="0"/>
              <a:t>`</a:t>
            </a:r>
            <a:r>
              <a:rPr lang="en-US" sz="1600" dirty="0" err="1"/>
              <a:t>calendar_year</a:t>
            </a:r>
            <a:r>
              <a:rPr lang="en-US" sz="1600" dirty="0"/>
              <a:t>` from `</a:t>
            </a:r>
            <a:r>
              <a:rPr lang="en-US" sz="1600" dirty="0" err="1"/>
              <a:t>trend_id</a:t>
            </a:r>
            <a:r>
              <a:rPr lang="en-US" sz="1600" dirty="0"/>
              <a:t>` column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Dropped </a:t>
            </a:r>
            <a:r>
              <a:rPr lang="en-US" sz="1600" dirty="0"/>
              <a:t>redundant columns: `</a:t>
            </a:r>
            <a:r>
              <a:rPr lang="en-US" sz="1600" dirty="0" err="1"/>
              <a:t>trend_id</a:t>
            </a:r>
            <a:r>
              <a:rPr lang="en-US" sz="1600" dirty="0"/>
              <a:t>`, `country` (constant value), `</a:t>
            </a:r>
            <a:r>
              <a:rPr lang="en-US" sz="1600" dirty="0" err="1"/>
              <a:t>academic_year</a:t>
            </a:r>
            <a:r>
              <a:rPr lang="en-US" sz="1600" dirty="0"/>
              <a:t>`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Converted </a:t>
            </a:r>
            <a:r>
              <a:rPr lang="en-US" sz="1600" dirty="0"/>
              <a:t>year to </a:t>
            </a:r>
            <a:r>
              <a:rPr lang="en-US" sz="1600" dirty="0" err="1"/>
              <a:t>datetime</a:t>
            </a:r>
            <a:r>
              <a:rPr lang="en-US" sz="1600" dirty="0"/>
              <a:t> format for temporal analysis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4. </a:t>
            </a:r>
            <a:r>
              <a:rPr lang="en-US" sz="1600" b="1" dirty="0" smtClean="0"/>
              <a:t>Data Validation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Verified </a:t>
            </a:r>
            <a:r>
              <a:rPr lang="en-US" sz="1600" dirty="0"/>
              <a:t>no remaining missing values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Ensured </a:t>
            </a:r>
            <a:r>
              <a:rPr lang="en-US" sz="1600" dirty="0"/>
              <a:t>recalculated rates were within valid ranges (0-100%)</a:t>
            </a:r>
          </a:p>
        </p:txBody>
      </p:sp>
    </p:spTree>
    <p:extLst>
      <p:ext uri="{BB962C8B-B14F-4D97-AF65-F5344CB8AC3E}">
        <p14:creationId xmlns:p14="http://schemas.microsoft.com/office/powerpoint/2010/main" val="567374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Analysis Methods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9552" y="1268760"/>
            <a:ext cx="806489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1</a:t>
            </a:r>
            <a:r>
              <a:rPr lang="en-US" sz="1600" dirty="0"/>
              <a:t>. </a:t>
            </a:r>
            <a:r>
              <a:rPr lang="en-US" sz="1600" b="1" dirty="0" smtClean="0"/>
              <a:t>Descriptive Statistics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Calculated </a:t>
            </a:r>
            <a:r>
              <a:rPr lang="en-US" sz="1600" dirty="0"/>
              <a:t>total unique schools and years covered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Computed </a:t>
            </a:r>
            <a:r>
              <a:rPr lang="en-US" sz="1600" dirty="0"/>
              <a:t>average applications per school per year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Derived </a:t>
            </a:r>
            <a:r>
              <a:rPr lang="en-US" sz="1600" dirty="0"/>
              <a:t>key metrics: applications-to-schools ratio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2. </a:t>
            </a:r>
            <a:r>
              <a:rPr lang="en-US" sz="1600" b="1" dirty="0" smtClean="0"/>
              <a:t>Exploratory </a:t>
            </a:r>
            <a:r>
              <a:rPr lang="en-US" sz="1600" b="1" dirty="0"/>
              <a:t>Data Analysis (EDA</a:t>
            </a:r>
            <a:r>
              <a:rPr lang="en-US" sz="1600" b="1" dirty="0" smtClean="0"/>
              <a:t>)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Analyzed </a:t>
            </a:r>
            <a:r>
              <a:rPr lang="en-US" sz="1600" dirty="0"/>
              <a:t>distribution of admission records per school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Examined </a:t>
            </a:r>
            <a:r>
              <a:rPr lang="en-US" sz="1600" dirty="0"/>
              <a:t>yearly application trends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Investigated </a:t>
            </a:r>
            <a:r>
              <a:rPr lang="en-US" sz="1600" dirty="0"/>
              <a:t>acceptance and enrollment rate distributions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 smtClean="0"/>
              <a:t>3. </a:t>
            </a:r>
            <a:r>
              <a:rPr lang="en-US" sz="1600" b="1" dirty="0" smtClean="0"/>
              <a:t>Segmentation Analysis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Calculated </a:t>
            </a:r>
            <a:r>
              <a:rPr lang="en-US" sz="1600" dirty="0"/>
              <a:t>yearly average applications per school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Applied </a:t>
            </a:r>
            <a:r>
              <a:rPr lang="en-US" sz="1600" dirty="0"/>
              <a:t>statistical segmentation based on mean and standard deviation: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sz="1600" dirty="0" smtClean="0"/>
              <a:t>Under-Utilized</a:t>
            </a:r>
            <a:r>
              <a:rPr lang="en-US" sz="1600" dirty="0"/>
              <a:t>: ≤ mean applications-to-schools ratio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sz="1600" dirty="0" smtClean="0"/>
              <a:t>Good-Standing</a:t>
            </a:r>
            <a:r>
              <a:rPr lang="en-US" sz="1600" dirty="0"/>
              <a:t>: within one standard deviation of mean</a:t>
            </a:r>
          </a:p>
          <a:p>
            <a:pPr marL="742950" lvl="1" indent="-285750">
              <a:buFont typeface="Courier New" pitchFamily="49" charset="0"/>
              <a:buChar char="o"/>
            </a:pPr>
            <a:r>
              <a:rPr lang="en-US" sz="1600" dirty="0" smtClean="0"/>
              <a:t>In-Demand</a:t>
            </a:r>
            <a:r>
              <a:rPr lang="en-US" sz="1600" dirty="0"/>
              <a:t>: ≥ mean + one standard deviation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4. </a:t>
            </a:r>
            <a:r>
              <a:rPr lang="en-US" sz="1600" b="1" dirty="0" smtClean="0"/>
              <a:t>Top-Bottom Analysis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Identified </a:t>
            </a:r>
            <a:r>
              <a:rPr lang="en-US" sz="1600" dirty="0"/>
              <a:t>schools with highest and lowest application volumes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Analyzed </a:t>
            </a:r>
            <a:r>
              <a:rPr lang="en-US" sz="1600" dirty="0"/>
              <a:t>performance patterns across </a:t>
            </a:r>
            <a:r>
              <a:rPr lang="en-US" sz="1600" dirty="0" smtClean="0"/>
              <a:t>segments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71335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Visualization Techniques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9552" y="1268760"/>
            <a:ext cx="806489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The </a:t>
            </a:r>
            <a:r>
              <a:rPr lang="en-US" sz="1600" dirty="0"/>
              <a:t>analysis included comprehensive visualizations </a:t>
            </a:r>
            <a:r>
              <a:rPr lang="en-US" sz="1600" dirty="0" smtClean="0"/>
              <a:t>showing: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Distribution </a:t>
            </a:r>
            <a:r>
              <a:rPr lang="en-US" sz="1600" dirty="0"/>
              <a:t>of admission records across </a:t>
            </a:r>
            <a:r>
              <a:rPr lang="en-US" sz="1600" dirty="0" smtClean="0"/>
              <a:t>schools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Yearly </a:t>
            </a:r>
            <a:r>
              <a:rPr lang="en-US" sz="1600" dirty="0"/>
              <a:t>application </a:t>
            </a:r>
            <a:r>
              <a:rPr lang="en-US" sz="1600" dirty="0" smtClean="0"/>
              <a:t>trends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Rate </a:t>
            </a:r>
            <a:r>
              <a:rPr lang="en-US" sz="1600" dirty="0"/>
              <a:t>distributions (acceptance and enrollment)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Comparative </a:t>
            </a:r>
            <a:r>
              <a:rPr lang="en-US" sz="1600" dirty="0"/>
              <a:t>performance across school segments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Top </a:t>
            </a:r>
            <a:r>
              <a:rPr lang="en-US" sz="1600" dirty="0"/>
              <a:t>and bottom performing schools analysis</a:t>
            </a:r>
          </a:p>
        </p:txBody>
      </p:sp>
    </p:spTree>
    <p:extLst>
      <p:ext uri="{BB962C8B-B14F-4D97-AF65-F5344CB8AC3E}">
        <p14:creationId xmlns:p14="http://schemas.microsoft.com/office/powerpoint/2010/main" val="1229518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Key Findings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9552" y="1268760"/>
            <a:ext cx="806489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1</a:t>
            </a:r>
            <a:r>
              <a:rPr lang="en-US" sz="1600" dirty="0"/>
              <a:t>. </a:t>
            </a:r>
            <a:r>
              <a:rPr lang="en-US" sz="1600" b="1" dirty="0" smtClean="0"/>
              <a:t>Demand Metrics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  </a:t>
            </a:r>
            <a:r>
              <a:rPr lang="en-US" sz="1600" dirty="0" smtClean="0"/>
              <a:t>Average </a:t>
            </a:r>
            <a:r>
              <a:rPr lang="en-US" sz="1600" dirty="0"/>
              <a:t>yearly applications: [Calculated value based on analysis]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  </a:t>
            </a:r>
            <a:r>
              <a:rPr lang="en-US" sz="1600" dirty="0" smtClean="0"/>
              <a:t>Applications-to-schools </a:t>
            </a:r>
            <a:r>
              <a:rPr lang="en-US" sz="1600" dirty="0"/>
              <a:t>ratio: [Calculated benchmark metric]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  </a:t>
            </a:r>
            <a:r>
              <a:rPr lang="en-US" sz="1600" dirty="0" smtClean="0"/>
              <a:t>Total </a:t>
            </a:r>
            <a:r>
              <a:rPr lang="en-US" sz="1600" dirty="0"/>
              <a:t>schools analyzed: [Unique school count]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2. </a:t>
            </a:r>
            <a:r>
              <a:rPr lang="en-US" sz="1600" b="1" dirty="0" smtClean="0"/>
              <a:t>Performance Distribution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Acceptance </a:t>
            </a:r>
            <a:r>
              <a:rPr lang="en-US" sz="1600" dirty="0"/>
              <a:t>rates showed [distribution characteristics]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Enrollment </a:t>
            </a:r>
            <a:r>
              <a:rPr lang="en-US" sz="1600" dirty="0"/>
              <a:t>rates indicated [conversion patterns]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Application </a:t>
            </a:r>
            <a:r>
              <a:rPr lang="en-US" sz="1600" dirty="0"/>
              <a:t>volumes varied significantly across schools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3. </a:t>
            </a:r>
            <a:r>
              <a:rPr lang="en-US" sz="1600" b="1" dirty="0" smtClean="0"/>
              <a:t>School </a:t>
            </a:r>
            <a:r>
              <a:rPr lang="en-US" sz="1600" b="1" dirty="0"/>
              <a:t>Segmentation </a:t>
            </a:r>
            <a:r>
              <a:rPr lang="en-US" sz="1600" b="1" dirty="0" smtClean="0"/>
              <a:t>Results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Under-Utilized </a:t>
            </a:r>
            <a:r>
              <a:rPr lang="en-US" sz="1600" dirty="0"/>
              <a:t>schools: [Count] - schools with low demand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Good-Standing </a:t>
            </a:r>
            <a:r>
              <a:rPr lang="en-US" sz="1600" dirty="0"/>
              <a:t>schools: [Count] - schools with balanced demand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In-Demand </a:t>
            </a:r>
            <a:r>
              <a:rPr lang="en-US" sz="1600" dirty="0"/>
              <a:t>schools: [Count] - schools experiencing high pressure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4. </a:t>
            </a:r>
            <a:r>
              <a:rPr lang="en-US" sz="1600" b="1" dirty="0" smtClean="0"/>
              <a:t>Trend Insights</a:t>
            </a:r>
            <a:endParaRPr lang="en-US" sz="16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Identified </a:t>
            </a:r>
            <a:r>
              <a:rPr lang="en-US" sz="1600" dirty="0"/>
              <a:t>temporal patterns in admission volumes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Highlighted </a:t>
            </a:r>
            <a:r>
              <a:rPr lang="en-US" sz="1600" dirty="0"/>
              <a:t>schools with consistent high/low performance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/>
              <a:t> </a:t>
            </a:r>
            <a:r>
              <a:rPr lang="en-US" sz="1600" dirty="0" smtClean="0"/>
              <a:t>Revealed </a:t>
            </a:r>
            <a:r>
              <a:rPr lang="en-US" sz="1600" dirty="0"/>
              <a:t>regional or categorical demand variations</a:t>
            </a:r>
          </a:p>
        </p:txBody>
      </p:sp>
    </p:spTree>
    <p:extLst>
      <p:ext uri="{BB962C8B-B14F-4D97-AF65-F5344CB8AC3E}">
        <p14:creationId xmlns:p14="http://schemas.microsoft.com/office/powerpoint/2010/main" val="835559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Strategic Implications</a:t>
            </a: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539552" y="1268760"/>
            <a:ext cx="80648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The </a:t>
            </a:r>
            <a:r>
              <a:rPr lang="en-US" sz="1600" dirty="0"/>
              <a:t>results provide actionable insights </a:t>
            </a:r>
            <a:r>
              <a:rPr lang="en-US" sz="1600" dirty="0" smtClean="0"/>
              <a:t>for: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Targeted </a:t>
            </a:r>
            <a:r>
              <a:rPr lang="en-US" sz="1600" dirty="0"/>
              <a:t>infrastructure investments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Resource </a:t>
            </a:r>
            <a:r>
              <a:rPr lang="en-US" sz="1600" dirty="0"/>
              <a:t>reallocation strategies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Policy </a:t>
            </a:r>
            <a:r>
              <a:rPr lang="en-US" sz="1600" dirty="0"/>
              <a:t>effectiveness evaluation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Future </a:t>
            </a:r>
            <a:r>
              <a:rPr lang="en-US" sz="1600" dirty="0"/>
              <a:t>demand forecasting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600" dirty="0" smtClean="0"/>
              <a:t>Equity </a:t>
            </a:r>
            <a:r>
              <a:rPr lang="en-US" sz="1600" dirty="0"/>
              <a:t>improvement initiatives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This analysis framework establishes a foundation for ongoing monitoring and data-driven educational planning in Nigeria.</a:t>
            </a:r>
          </a:p>
        </p:txBody>
      </p:sp>
    </p:spTree>
    <p:extLst>
      <p:ext uri="{BB962C8B-B14F-4D97-AF65-F5344CB8AC3E}">
        <p14:creationId xmlns:p14="http://schemas.microsoft.com/office/powerpoint/2010/main" val="1050507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357</Words>
  <Application>Microsoft Office PowerPoint</Application>
  <PresentationFormat>On-screen Show (4:3)</PresentationFormat>
  <Paragraphs>110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Admissions Dashboard</vt:lpstr>
      <vt:lpstr>Problem Statement</vt:lpstr>
      <vt:lpstr>Use Cases for This Project</vt:lpstr>
      <vt:lpstr>Use Cases for This Project</vt:lpstr>
      <vt:lpstr>Dataset Overview</vt:lpstr>
      <vt:lpstr>Data Cleaning Methods</vt:lpstr>
      <vt:lpstr>Analysis Methods</vt:lpstr>
      <vt:lpstr>Visualization Techniques</vt:lpstr>
      <vt:lpstr>Key Findings</vt:lpstr>
      <vt:lpstr>Strategic Implications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Admissions Dashboard</dc:title>
  <dc:creator>User</dc:creator>
  <cp:lastModifiedBy>User</cp:lastModifiedBy>
  <cp:revision>13</cp:revision>
  <dcterms:created xsi:type="dcterms:W3CDTF">2026-04-03T19:38:31Z</dcterms:created>
  <dcterms:modified xsi:type="dcterms:W3CDTF">2026-04-03T20:10:30Z</dcterms:modified>
</cp:coreProperties>
</file>